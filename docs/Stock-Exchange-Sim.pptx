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Lst>
  <p:sldSz cx="10080625" cy="567055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tandard">
    <p:spTree>
      <p:nvGrpSpPr>
        <p:cNvPr id="1" name=""/>
        <p:cNvGrpSpPr/>
        <p:nvPr/>
      </p:nvGrpSpPr>
      <p:grpSpPr>
        <a:xfrm>
          <a:off x="0" y="0"/>
          <a:ext cx="0" cy="0"/>
          <a:chOff x="0" y="0"/>
          <a:chExt cx="0" cy="0"/>
        </a:xfrm>
      </p:grpSpPr>
      <p:sp>
        <p:nvSpPr>
          <p:cNvPr id="7" name="PlaceHolder 1"/>
          <p:cNvSpPr>
            <a:spLocks noGrp="1"/>
          </p:cNvSpPr>
          <p:nvPr>
            <p:ph type="title"/>
          </p:nvPr>
        </p:nvSpPr>
        <p:spPr>
          <a:xfrm>
            <a:off x="504000" y="28800"/>
            <a:ext cx="9070920" cy="1341000"/>
          </a:xfrm>
          <a:prstGeom prst="rect">
            <a:avLst/>
          </a:prstGeom>
          <a:noFill/>
          <a:ln w="0">
            <a:noFill/>
          </a:ln>
        </p:spPr>
        <p:txBody>
          <a:bodyPr lIns="0" tIns="0" rIns="0" bIns="0" anchor="ctr">
            <a:spAutoFit/>
          </a:bodyPr>
          <a:p>
            <a:pPr indent="0" algn="ctr">
              <a:buNone/>
            </a:pPr>
            <a:endParaRPr lang="de-DE" sz="4400" b="0" u="none" strike="noStrike">
              <a:solidFill>
                <a:srgbClr val="000000"/>
              </a:solidFill>
              <a:effectLst/>
              <a:uFillTx/>
              <a:latin typeface="Arial"/>
            </a:endParaRPr>
          </a:p>
        </p:txBody>
      </p:sp>
      <p:sp>
        <p:nvSpPr>
          <p:cNvPr id="8" name="PlaceHolder 2"/>
          <p:cNvSpPr>
            <a:spLocks noGrp="1"/>
          </p:cNvSpPr>
          <p:nvPr>
            <p:ph type="subTitle"/>
          </p:nvPr>
        </p:nvSpPr>
        <p:spPr>
          <a:xfrm>
            <a:off x="504000" y="2726280"/>
            <a:ext cx="9070920" cy="488160"/>
          </a:xfrm>
          <a:prstGeom prst="rect">
            <a:avLst/>
          </a:prstGeom>
          <a:noFill/>
          <a:ln w="0">
            <a:noFill/>
          </a:ln>
        </p:spPr>
        <p:txBody>
          <a:bodyPr lIns="0" tIns="0" rIns="0" bIns="0" anchor="ctr">
            <a:spAutoFit/>
          </a:bodyPr>
          <a:p>
            <a:pPr indent="0" algn="ctr">
              <a:buNone/>
            </a:pPr>
            <a:endParaRPr lang="de-DE" sz="3200" b="0" u="none" strike="noStrike">
              <a:solidFill>
                <a:srgbClr val="000000"/>
              </a:solidFill>
              <a:effectLst/>
              <a:uFillTx/>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B6D755C-F713-4C96-9081-C8D5A7213878}" type="slidenum">
              <a:t>&lt;#&gt;</a:t>
            </a:fld>
          </a:p>
        </p:txBody>
      </p:sp>
      <p:sp>
        <p:nvSpPr>
          <p:cNvPr id="6" name="PlaceHolder 5"/>
          <p:cNvSpPr>
            <a:spLocks noGrp="1"/>
          </p:cNvSpPr>
          <p:nvPr>
            <p:ph type="dt" idx="3"/>
          </p:nvPr>
        </p:nvSpPr>
        <p:spPr/>
        <p:txBody>
          <a:bodyPr/>
          <a:p>
            <a:r>
              <a:rPr lang="de-DE"/>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504000" y="28800"/>
            <a:ext cx="9070920" cy="1341000"/>
          </a:xfrm>
          <a:prstGeom prst="rect">
            <a:avLst/>
          </a:prstGeom>
          <a:noFill/>
          <a:ln w="0">
            <a:noFill/>
          </a:ln>
        </p:spPr>
        <p:txBody>
          <a:bodyPr lIns="0" tIns="0" rIns="0" bIns="0" anchor="ctr">
            <a:spAutoFit/>
          </a:bodyPr>
          <a:lstStyle>
            <a:lvl1pPr indent="0" algn="l">
              <a:buNone/>
              <a:defRPr lang="de-DE" sz="4400" b="0" u="none" strike="noStrike">
                <a:solidFill>
                  <a:srgbClr val="000000"/>
                </a:solidFill>
                <a:effectLst/>
                <a:uFillTx/>
                <a:latin typeface="Arial"/>
              </a:defRPr>
            </a:lvl1pPr>
          </a:lstStyle>
          <a:p>
            <a:pPr indent="0" algn="l">
              <a:buNone/>
            </a:pPr>
            <a:r>
              <a:rPr lang="de-DE" sz="4400" b="0" u="none" strike="noStrike">
                <a:solidFill>
                  <a:srgbClr val="000000"/>
                </a:solidFill>
                <a:effectLst/>
                <a:uFillTx/>
                <a:latin typeface="Arial"/>
              </a:rPr>
              <a:t>Format des </a:t>
            </a:r>
            <a:r>
              <a:rPr lang="de-DE" sz="4400" b="0" u="none" strike="noStrike">
                <a:solidFill>
                  <a:srgbClr val="000000"/>
                </a:solidFill>
                <a:effectLst/>
                <a:uFillTx/>
                <a:latin typeface="Arial"/>
              </a:rPr>
              <a:t>Titeltextes durch </a:t>
            </a:r>
            <a:r>
              <a:rPr lang="de-DE" sz="4400" b="0" u="none" strike="noStrike">
                <a:solidFill>
                  <a:srgbClr val="000000"/>
                </a:solidFill>
                <a:effectLst/>
                <a:uFillTx/>
                <a:latin typeface="Arial"/>
              </a:rPr>
              <a:t>Klicken bearbeiten</a:t>
            </a:r>
            <a:endParaRPr lang="de-DE" sz="4400" b="0" u="none" strike="noStrike">
              <a:solidFill>
                <a:srgbClr val="000000"/>
              </a:solidFill>
              <a:effectLst/>
              <a:uFillTx/>
              <a:latin typeface="Arial"/>
            </a:endParaRPr>
          </a:p>
        </p:txBody>
      </p:sp>
      <p:sp>
        <p:nvSpPr>
          <p:cNvPr id="3" name="PlaceHolder 2"/>
          <p:cNvSpPr>
            <a:spLocks noGrp="1"/>
          </p:cNvSpPr>
          <p:nvPr>
            <p:ph type="ftr" idx="1"/>
          </p:nvPr>
        </p:nvSpPr>
        <p:spPr>
          <a:xfrm>
            <a:off x="3447360" y="5165280"/>
            <a:ext cx="3194280" cy="389880"/>
          </a:xfrm>
          <a:prstGeom prst="rect">
            <a:avLst/>
          </a:prstGeom>
          <a:noFill/>
          <a:ln w="0">
            <a:noFill/>
          </a:ln>
        </p:spPr>
        <p:txBody>
          <a:bodyPr lIns="0" tIns="0" rIns="0" bIns="0" anchor="t">
            <a:noAutofit/>
          </a:bodyPr>
          <a:lstStyle>
            <a:lvl1pPr indent="0" algn="ctr">
              <a:lnSpc>
                <a:spcPct val="100000"/>
              </a:lnSpc>
              <a:buNone/>
              <a:tabLst>
                <a:tab pos="0" algn="l"/>
              </a:tabLst>
              <a:defRPr lang="de-DE" sz="1400" b="0" u="none" strike="noStrike">
                <a:solidFill>
                  <a:srgbClr val="000000"/>
                </a:solidFill>
                <a:effectLst/>
                <a:uFillTx/>
                <a:latin typeface="Times New Roman"/>
              </a:defRPr>
            </a:lvl1pPr>
          </a:lstStyle>
          <a:p>
            <a:pPr indent="0" algn="ctr">
              <a:lnSpc>
                <a:spcPct val="100000"/>
              </a:lnSpc>
              <a:buNone/>
              <a:tabLst>
                <a:tab pos="0" algn="l"/>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7227360" y="5165280"/>
            <a:ext cx="2347560" cy="389880"/>
          </a:xfrm>
          <a:prstGeom prst="rect">
            <a:avLst/>
          </a:prstGeom>
          <a:noFill/>
          <a:ln w="0">
            <a:noFill/>
          </a:ln>
        </p:spPr>
        <p:txBody>
          <a:bodyPr lIns="0" tIns="0" rIns="0" bIns="0" anchor="t">
            <a:noAutofit/>
          </a:bodyPr>
          <a:lstStyle>
            <a:lvl1pPr indent="0" algn="r">
              <a:lnSpc>
                <a:spcPct val="100000"/>
              </a:lnSpc>
              <a:buNone/>
              <a:tabLst>
                <a:tab pos="0" algn="l"/>
              </a:tabLst>
              <a:defRPr lang="de-DE" sz="1400" b="0" u="none" strike="noStrike">
                <a:solidFill>
                  <a:srgbClr val="000000"/>
                </a:solidFill>
                <a:effectLst/>
                <a:uFillTx/>
                <a:latin typeface="Times New Roman"/>
              </a:defRPr>
            </a:lvl1pPr>
          </a:lstStyle>
          <a:p>
            <a:pPr indent="0" algn="r">
              <a:lnSpc>
                <a:spcPct val="100000"/>
              </a:lnSpc>
              <a:buNone/>
              <a:tabLst>
                <a:tab pos="0" algn="l"/>
              </a:tabLst>
            </a:pPr>
            <a:fld id="{FA66A602-9324-4377-81C2-F9C0BC81B74B}" type="slidenum">
              <a:rPr lang="de-DE" sz="1400" b="0" u="none" strike="noStrike">
                <a:solidFill>
                  <a:srgbClr val="000000"/>
                </a:solidFill>
                <a:effectLst/>
                <a:uFillTx/>
                <a:latin typeface="Times New Roman"/>
              </a:rPr>
              <a:t>&lt;Foliennummer&gt;</a:t>
            </a:fld>
            <a:endParaRPr lang="de-DE" sz="1400" b="0" u="none" strike="noStrike">
              <a:solidFill>
                <a:srgbClr val="000000"/>
              </a:solidFill>
              <a:effectLst/>
              <a:uFillTx/>
              <a:latin typeface="Times New Roman"/>
            </a:endParaRPr>
          </a:p>
        </p:txBody>
      </p:sp>
      <p:sp>
        <p:nvSpPr>
          <p:cNvPr id="5" name="PlaceHolder 4"/>
          <p:cNvSpPr>
            <a:spLocks noGrp="1"/>
          </p:cNvSpPr>
          <p:nvPr>
            <p:ph type="dt" idx="3"/>
          </p:nvPr>
        </p:nvSpPr>
        <p:spPr>
          <a:xfrm>
            <a:off x="504000" y="5165280"/>
            <a:ext cx="2347560" cy="389880"/>
          </a:xfrm>
          <a:prstGeom prst="rect">
            <a:avLst/>
          </a:prstGeom>
          <a:noFill/>
          <a:ln w="0">
            <a:noFill/>
          </a:ln>
        </p:spPr>
        <p:txBody>
          <a:bodyPr lIns="0" tIns="0" rIns="0" bIns="0" anchor="t">
            <a:noAutofit/>
          </a:bodyPr>
          <a:lstStyle>
            <a:lvl1pPr indent="0" algn="l">
              <a:buNone/>
              <a:defRPr lang="de-DE" sz="1400" b="0" u="none" strike="noStrike">
                <a:solidFill>
                  <a:srgbClr val="000000"/>
                </a:solidFill>
                <a:effectLst/>
                <a:uFillTx/>
                <a:latin typeface="Times New Roman"/>
              </a:defRPr>
            </a:lvl1pPr>
          </a:lstStyle>
          <a:p>
            <a:pPr indent="0" algn="l">
              <a:buNone/>
            </a:pPr>
            <a:r>
              <a:rPr lang="de-DE" sz="1400" b="0" u="none" strike="noStrike">
                <a:solidFill>
                  <a:srgbClr val="000000"/>
                </a:solidFill>
                <a:effectLst/>
                <a:uFillTx/>
                <a:latin typeface="Times New Roman"/>
              </a:rPr>
              <a:t>&lt;Datum/Uhrzeit&gt;</a:t>
            </a:r>
            <a:endParaRPr lang="de-DE" sz="1400" b="0" u="none" strike="noStrike">
              <a:solidFill>
                <a:srgbClr val="000000"/>
              </a:solidFill>
              <a:effectLst/>
              <a:uFillTx/>
              <a:latin typeface="Times New Roman"/>
            </a:endParaRPr>
          </a:p>
        </p:txBody>
      </p:sp>
      <p:sp>
        <p:nvSpPr>
          <p:cNvPr id="6" name="PlaceHolder 5"/>
          <p:cNvSpPr>
            <a:spLocks noGrp="1"/>
          </p:cNvSpPr>
          <p:nvPr>
            <p:ph type="body"/>
          </p:nvPr>
        </p:nvSpPr>
        <p:spPr>
          <a:xfrm>
            <a:off x="504000" y="1326600"/>
            <a:ext cx="9072000" cy="328860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de-DE"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de-DE"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de-DE"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de-DE"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de-DE"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de-DE"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de-DE"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de-DE" sz="3200" b="0" u="none" strike="noStrike">
                <a:solidFill>
                  <a:srgbClr val="000000"/>
                </a:solidFill>
                <a:effectLst/>
                <a:uFillTx/>
                <a:latin typeface="Arial"/>
              </a:rPr>
              <a:t>Format des Gliederungstextes durch Klicken bearbeiten</a:t>
            </a:r>
            <a:endParaRPr lang="de-DE"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de-DE" sz="2800" b="0" u="none" strike="noStrike">
                <a:solidFill>
                  <a:srgbClr val="000000"/>
                </a:solidFill>
                <a:effectLst/>
                <a:uFillTx/>
                <a:latin typeface="Arial"/>
              </a:rPr>
              <a:t>Zweite Gliederungsebene</a:t>
            </a:r>
            <a:endParaRPr lang="de-DE"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de-DE" sz="2400" b="0" u="none" strike="noStrike">
                <a:solidFill>
                  <a:srgbClr val="000000"/>
                </a:solidFill>
                <a:effectLst/>
                <a:uFillTx/>
                <a:latin typeface="Arial"/>
              </a:rPr>
              <a:t>Dritte Gliederungsebene</a:t>
            </a:r>
            <a:endParaRPr lang="de-DE"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de-DE" sz="2000" b="0" u="none" strike="noStrike">
                <a:solidFill>
                  <a:srgbClr val="000000"/>
                </a:solidFill>
                <a:effectLst/>
                <a:uFillTx/>
                <a:latin typeface="Arial"/>
              </a:rPr>
              <a:t>Vierte Gliederungsebene</a:t>
            </a:r>
            <a:endParaRPr lang="de-DE"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Fünfte Gliederungsebene</a:t>
            </a:r>
            <a:endParaRPr lang="de-DE"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Sechste Gliederungsebene</a:t>
            </a:r>
            <a:endParaRPr lang="de-DE"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Siebte Gliederungsebene</a:t>
            </a:r>
            <a:endParaRPr lang="de-DE"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sp>
        <p:nvSpPr>
          <p:cNvPr id="9" name=""/>
          <p:cNvSpPr txBox="1"/>
          <p:nvPr/>
        </p:nvSpPr>
        <p:spPr>
          <a:xfrm>
            <a:off x="900000" y="1991520"/>
            <a:ext cx="8350200" cy="2169720"/>
          </a:xfrm>
          <a:prstGeom prst="rect">
            <a:avLst/>
          </a:prstGeom>
          <a:noFill/>
          <a:ln w="0">
            <a:noFill/>
          </a:ln>
        </p:spPr>
        <p:txBody>
          <a:bodyPr lIns="90000" tIns="45000" rIns="90000" bIns="45000" anchor="t">
            <a:spAutoFit/>
          </a:bodyPr>
          <a:p>
            <a:endParaRPr lang="de-DE" sz="1000" b="0" u="none" strike="noStrike">
              <a:solidFill>
                <a:srgbClr val="FFFFFF"/>
              </a:solidFill>
              <a:effectLst/>
              <a:uFillTx/>
              <a:latin typeface="Arial"/>
            </a:endParaRPr>
          </a:p>
          <a:p>
            <a:r>
              <a:rPr lang="de-DE" sz="1300" b="0" u="none" strike="noStrike">
                <a:solidFill>
                  <a:srgbClr val="FFFFFF"/>
                </a:solidFill>
                <a:effectLst/>
                <a:uFillTx/>
                <a:latin typeface="Arial"/>
              </a:rPr>
              <a:t>Purpose:</a:t>
            </a:r>
            <a:endParaRPr lang="de-DE" sz="1300" b="0" u="none" strike="noStrike">
              <a:solidFill>
                <a:srgbClr val="FFFFFF"/>
              </a:solidFill>
              <a:effectLst/>
              <a:uFillTx/>
              <a:latin typeface="Arial"/>
            </a:endParaRPr>
          </a:p>
          <a:p>
            <a:r>
              <a:rPr lang="de-DE" sz="1300" b="0" u="none" strike="noStrike">
                <a:solidFill>
                  <a:srgbClr val="FFFFFF"/>
                </a:solidFill>
                <a:effectLst/>
                <a:uFillTx/>
                <a:latin typeface="Arial"/>
              </a:rPr>
              <a:t>React web application for a stock market simulation. Users can browse available stocks, buy and sell positions, track portfolio value, simulate price changes over days, and review budget development with charted cash, portfolio, and total value lines.</a:t>
            </a:r>
            <a:endParaRPr lang="de-DE" sz="1300" b="0" u="none" strike="noStrike">
              <a:solidFill>
                <a:srgbClr val="FFFFFF"/>
              </a:solidFill>
              <a:effectLst/>
              <a:uFillTx/>
              <a:latin typeface="Arial"/>
            </a:endParaRPr>
          </a:p>
          <a:p>
            <a:r>
              <a:rPr lang="de-DE" sz="1300" b="0" u="none" strike="noStrike">
                <a:solidFill>
                  <a:srgbClr val="FFFFFF"/>
                </a:solidFill>
                <a:effectLst/>
                <a:uFillTx/>
                <a:latin typeface="Arial"/>
              </a:rPr>
              <a:t>The app is built with Vite, React, React Router, Material UI, and Axios. It expects a JSON API backend with `companies` and `stocks` resources. </a:t>
            </a:r>
            <a:endParaRPr lang="de-DE" sz="1300" b="0" u="none" strike="noStrike">
              <a:solidFill>
                <a:srgbClr val="FFFFFF"/>
              </a:solidFill>
              <a:effectLst/>
              <a:uFillTx/>
              <a:latin typeface="Arial"/>
            </a:endParaRPr>
          </a:p>
        </p:txBody>
      </p:sp>
      <p:sp>
        <p:nvSpPr>
          <p:cNvPr id="10" name=""/>
          <p:cNvSpPr txBox="1"/>
          <p:nvPr/>
        </p:nvSpPr>
        <p:spPr>
          <a:xfrm>
            <a:off x="1440000" y="396000"/>
            <a:ext cx="7270200" cy="402840"/>
          </a:xfrm>
          <a:prstGeom prst="rect">
            <a:avLst/>
          </a:prstGeom>
          <a:noFill/>
          <a:ln w="0">
            <a:noFill/>
          </a:ln>
        </p:spPr>
        <p:txBody>
          <a:bodyPr lIns="90000" tIns="45000" rIns="90000" bIns="45000" anchor="t" anchorCtr="1">
            <a:spAutoFit/>
          </a:bodyPr>
          <a:p>
            <a:pPr algn="ctr">
              <a:spcBef>
                <a:spcPts val="1191"/>
              </a:spcBef>
              <a:spcAft>
                <a:spcPts val="992"/>
              </a:spcAft>
            </a:pPr>
            <a:r>
              <a:rPr lang="de-DE" sz="2200" b="0" u="none" strike="noStrike">
                <a:solidFill>
                  <a:srgbClr val="FFFFFF"/>
                </a:solidFill>
                <a:effectLst/>
                <a:uFillTx/>
                <a:latin typeface="Arial"/>
              </a:rPr>
              <a:t>Stock Exchange Simulation Application</a:t>
            </a:r>
            <a:endParaRPr lang="de-DE" sz="2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sp>
        <p:nvSpPr>
          <p:cNvPr id="11" name=""/>
          <p:cNvSpPr txBox="1"/>
          <p:nvPr/>
        </p:nvSpPr>
        <p:spPr>
          <a:xfrm>
            <a:off x="900000" y="1955520"/>
            <a:ext cx="8350200" cy="2954520"/>
          </a:xfrm>
          <a:prstGeom prst="rect">
            <a:avLst/>
          </a:prstGeom>
          <a:noFill/>
          <a:ln w="0">
            <a:noFill/>
          </a:ln>
        </p:spPr>
        <p:txBody>
          <a:bodyPr lIns="90000" tIns="45000" rIns="90000" bIns="45000" anchor="t">
            <a:spAutoFit/>
          </a:bodyPr>
          <a:p>
            <a:r>
              <a:rPr lang="de-DE" sz="1400" b="0" u="none" strike="noStrike">
                <a:solidFill>
                  <a:srgbClr val="FFFFFF"/>
                </a:solidFill>
                <a:effectLst/>
                <a:uFillTx/>
                <a:latin typeface="Arial"/>
              </a:rPr>
              <a:t>Features:</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Market overview with searchable stock list</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Add, edit, and delete stock/company data</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Buy and sell shares from a stock detail page</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Portfolio page with current holdings and gains/losses</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Budget page with daily value development chart</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Toggle chart lines for cash, portfolio value, and total value</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Simulation day button that changes stock prices and stores daily budget snapshots</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Local persistence for transactions, day counter, budget history, and chart visibility</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Vercel-compatible single page app routing</a:t>
            </a:r>
            <a:endParaRPr lang="de-DE" sz="1400" b="0" u="none" strike="noStrike">
              <a:solidFill>
                <a:srgbClr val="FFFFFF"/>
              </a:solidFill>
              <a:effectLst/>
              <a:uFillTx/>
              <a:latin typeface="Arial"/>
            </a:endParaRPr>
          </a:p>
          <a:p>
            <a:endParaRPr lang="de-DE" sz="1000" b="0" u="none" strike="noStrike">
              <a:solidFill>
                <a:srgbClr val="FFFFFF"/>
              </a:solidFill>
              <a:effectLst/>
              <a:uFillTx/>
              <a:latin typeface="Arial"/>
            </a:endParaRPr>
          </a:p>
          <a:p>
            <a:endParaRPr lang="de-DE" sz="1300" b="0" u="none" strike="noStrike">
              <a:solidFill>
                <a:srgbClr val="FFFFFF"/>
              </a:solidFill>
              <a:effectLst/>
              <a:uFillTx/>
              <a:latin typeface="Arial"/>
            </a:endParaRPr>
          </a:p>
        </p:txBody>
      </p:sp>
      <p:sp>
        <p:nvSpPr>
          <p:cNvPr id="12" name=""/>
          <p:cNvSpPr txBox="1"/>
          <p:nvPr/>
        </p:nvSpPr>
        <p:spPr>
          <a:xfrm>
            <a:off x="1440000" y="396000"/>
            <a:ext cx="7270200" cy="402840"/>
          </a:xfrm>
          <a:prstGeom prst="rect">
            <a:avLst/>
          </a:prstGeom>
          <a:noFill/>
          <a:ln w="0">
            <a:noFill/>
          </a:ln>
        </p:spPr>
        <p:txBody>
          <a:bodyPr lIns="90000" tIns="45000" rIns="90000" bIns="45000" anchor="t" anchorCtr="1">
            <a:spAutoFit/>
          </a:bodyPr>
          <a:p>
            <a:pPr algn="ctr">
              <a:spcBef>
                <a:spcPts val="1191"/>
              </a:spcBef>
              <a:spcAft>
                <a:spcPts val="992"/>
              </a:spcAft>
            </a:pPr>
            <a:r>
              <a:rPr lang="de-DE" sz="2200" b="0" u="none" strike="noStrike">
                <a:solidFill>
                  <a:srgbClr val="FFFFFF"/>
                </a:solidFill>
                <a:effectLst/>
                <a:uFillTx/>
                <a:latin typeface="Arial"/>
              </a:rPr>
              <a:t>Stock Exchange Simulation Application</a:t>
            </a:r>
            <a:endParaRPr lang="de-DE" sz="2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sp>
        <p:nvSpPr>
          <p:cNvPr id="13" name=""/>
          <p:cNvSpPr txBox="1"/>
          <p:nvPr/>
        </p:nvSpPr>
        <p:spPr>
          <a:xfrm>
            <a:off x="900000" y="1487520"/>
            <a:ext cx="8350200" cy="3508920"/>
          </a:xfrm>
          <a:prstGeom prst="rect">
            <a:avLst/>
          </a:prstGeom>
          <a:noFill/>
          <a:ln w="0">
            <a:noFill/>
          </a:ln>
        </p:spPr>
        <p:txBody>
          <a:bodyPr lIns="90000" tIns="45000" rIns="90000" bIns="45000" anchor="t">
            <a:spAutoFit/>
          </a:bodyPr>
          <a:p>
            <a:r>
              <a:rPr lang="de-DE" sz="1400" b="0" u="none" strike="noStrike">
                <a:solidFill>
                  <a:srgbClr val="FFFFFF"/>
                </a:solidFill>
                <a:effectLst/>
                <a:uFillTx/>
                <a:latin typeface="Arial"/>
              </a:rPr>
              <a:t>Mock JSON Server</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This is the mock backend for the stock exchange simulator. It uses`json-server` to expose the data in `db.json` as a REST API, so the React client can load, create, update, and delete project data without a real database.</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The mock server provides the app data during development:</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companies and their profile information</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stocks and their current prices</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certificates and bonds</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example transactions</a:t>
            </a:r>
            <a:endParaRPr lang="de-DE" sz="1400" b="0" u="none" strike="noStrike">
              <a:solidFill>
                <a:srgbClr val="FFFFFF"/>
              </a:solidFill>
              <a:effectLst/>
              <a:uFillTx/>
              <a:latin typeface="Arial"/>
            </a:endParaRPr>
          </a:p>
          <a:p>
            <a:r>
              <a:rPr lang="de-DE" sz="1400" b="0" u="none" strike="noStrike">
                <a:solidFill>
                  <a:srgbClr val="FFFFFF"/>
                </a:solidFill>
                <a:effectLst/>
                <a:uFillTx/>
                <a:latin typeface="Arial"/>
              </a:rPr>
              <a:t>- logo/image assets from the `assets` folder </a:t>
            </a:r>
            <a:endParaRPr lang="de-DE" sz="1400" b="0" u="none" strike="noStrike">
              <a:solidFill>
                <a:srgbClr val="FFFFFF"/>
              </a:solidFill>
              <a:effectLst/>
              <a:uFillTx/>
              <a:latin typeface="Arial"/>
            </a:endParaRPr>
          </a:p>
          <a:p>
            <a:endParaRPr lang="de-DE" sz="1000" b="0" u="none" strike="noStrike">
              <a:solidFill>
                <a:srgbClr val="FFFFFF"/>
              </a:solidFill>
              <a:effectLst/>
              <a:uFillTx/>
              <a:latin typeface="Arial"/>
            </a:endParaRPr>
          </a:p>
          <a:p>
            <a:endParaRPr lang="de-DE" sz="1300" b="0" u="none" strike="noStrike">
              <a:solidFill>
                <a:srgbClr val="FFFFFF"/>
              </a:solidFill>
              <a:effectLst/>
              <a:uFillTx/>
              <a:latin typeface="Arial"/>
            </a:endParaRPr>
          </a:p>
        </p:txBody>
      </p:sp>
      <p:sp>
        <p:nvSpPr>
          <p:cNvPr id="14" name=""/>
          <p:cNvSpPr txBox="1"/>
          <p:nvPr/>
        </p:nvSpPr>
        <p:spPr>
          <a:xfrm>
            <a:off x="1440000" y="396000"/>
            <a:ext cx="7270200" cy="402840"/>
          </a:xfrm>
          <a:prstGeom prst="rect">
            <a:avLst/>
          </a:prstGeom>
          <a:noFill/>
          <a:ln w="0">
            <a:noFill/>
          </a:ln>
        </p:spPr>
        <p:txBody>
          <a:bodyPr lIns="90000" tIns="45000" rIns="90000" bIns="45000" anchor="t" anchorCtr="1">
            <a:spAutoFit/>
          </a:bodyPr>
          <a:p>
            <a:pPr algn="ctr">
              <a:spcBef>
                <a:spcPts val="1191"/>
              </a:spcBef>
              <a:spcAft>
                <a:spcPts val="992"/>
              </a:spcAft>
            </a:pPr>
            <a:r>
              <a:rPr lang="de-DE" sz="2200" b="0" u="none" strike="noStrike">
                <a:solidFill>
                  <a:srgbClr val="FFFFFF"/>
                </a:solidFill>
                <a:effectLst/>
                <a:uFillTx/>
                <a:latin typeface="Arial"/>
              </a:rPr>
              <a:t>Stock Exchange Simulation Application</a:t>
            </a:r>
            <a:endParaRPr lang="de-DE" sz="2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pic>
        <p:nvPicPr>
          <p:cNvPr id="15" name=""/>
          <p:cNvPicPr/>
          <p:nvPr/>
        </p:nvPicPr>
        <p:blipFill>
          <a:blip r:embed="rId1"/>
          <a:stretch/>
        </p:blipFill>
        <p:spPr>
          <a:xfrm>
            <a:off x="46800" y="180000"/>
            <a:ext cx="9924480" cy="533376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pic>
        <p:nvPicPr>
          <p:cNvPr id="16" name=""/>
          <p:cNvPicPr/>
          <p:nvPr/>
        </p:nvPicPr>
        <p:blipFill>
          <a:blip r:embed="rId1"/>
          <a:stretch/>
        </p:blipFill>
        <p:spPr>
          <a:xfrm>
            <a:off x="82800" y="150840"/>
            <a:ext cx="9899280" cy="532044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pic>
        <p:nvPicPr>
          <p:cNvPr id="17" name=""/>
          <p:cNvPicPr/>
          <p:nvPr/>
        </p:nvPicPr>
        <p:blipFill>
          <a:blip r:embed="rId1"/>
          <a:stretch/>
        </p:blipFill>
        <p:spPr>
          <a:xfrm>
            <a:off x="109440" y="180000"/>
            <a:ext cx="9995040" cy="537192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pic>
        <p:nvPicPr>
          <p:cNvPr id="18" name=""/>
          <p:cNvPicPr/>
          <p:nvPr/>
        </p:nvPicPr>
        <p:blipFill>
          <a:blip r:embed="rId1"/>
          <a:stretch/>
        </p:blipFill>
        <p:spPr>
          <a:xfrm>
            <a:off x="37440" y="144000"/>
            <a:ext cx="9995040" cy="537192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sp>
        <p:nvSpPr>
          <p:cNvPr id="19" name=""/>
          <p:cNvSpPr txBox="1"/>
          <p:nvPr/>
        </p:nvSpPr>
        <p:spPr>
          <a:xfrm>
            <a:off x="1440360" y="396360"/>
            <a:ext cx="7270200" cy="2761560"/>
          </a:xfrm>
          <a:prstGeom prst="rect">
            <a:avLst/>
          </a:prstGeom>
          <a:noFill/>
          <a:ln w="0">
            <a:noFill/>
          </a:ln>
        </p:spPr>
        <p:txBody>
          <a:bodyPr lIns="90000" tIns="45000" rIns="90000" bIns="45000" anchor="t" anchorCtr="1">
            <a:spAutoFit/>
          </a:bodyPr>
          <a:p>
            <a:pPr algn="ctr">
              <a:spcBef>
                <a:spcPts val="1191"/>
              </a:spcBef>
              <a:spcAft>
                <a:spcPts val="992"/>
              </a:spcAft>
            </a:pPr>
            <a:r>
              <a:rPr lang="de-DE" sz="2200" b="0" u="none" strike="noStrike">
                <a:solidFill>
                  <a:srgbClr val="FFFFFF"/>
                </a:solidFill>
                <a:effectLst/>
                <a:uFillTx/>
                <a:latin typeface="Arial"/>
              </a:rPr>
              <a:t>Stock Exchange Simulation Application</a:t>
            </a:r>
            <a:endParaRPr lang="de-DE" sz="2200" b="0" u="none" strike="noStrike">
              <a:solidFill>
                <a:srgbClr val="FFFFFF"/>
              </a:solidFill>
              <a:effectLst/>
              <a:uFillTx/>
              <a:latin typeface="Arial"/>
            </a:endParaRPr>
          </a:p>
          <a:p>
            <a:pPr algn="ctr">
              <a:spcBef>
                <a:spcPts val="1191"/>
              </a:spcBef>
              <a:spcAft>
                <a:spcPts val="992"/>
              </a:spcAft>
            </a:pPr>
            <a:endParaRPr lang="de-DE" sz="2200" b="0" u="none" strike="noStrike">
              <a:solidFill>
                <a:srgbClr val="FFFFFF"/>
              </a:solidFill>
              <a:effectLst/>
              <a:uFillTx/>
              <a:latin typeface="Arial"/>
            </a:endParaRPr>
          </a:p>
          <a:p>
            <a:pPr algn="ctr">
              <a:spcBef>
                <a:spcPts val="1191"/>
              </a:spcBef>
              <a:spcAft>
                <a:spcPts val="992"/>
              </a:spcAft>
            </a:pPr>
            <a:endParaRPr lang="de-DE" sz="2200" b="0" u="none" strike="noStrike">
              <a:solidFill>
                <a:srgbClr val="FFFFFF"/>
              </a:solidFill>
              <a:effectLst/>
              <a:uFillTx/>
              <a:latin typeface="Arial"/>
            </a:endParaRPr>
          </a:p>
          <a:p>
            <a:pPr algn="ctr">
              <a:spcBef>
                <a:spcPts val="1191"/>
              </a:spcBef>
              <a:spcAft>
                <a:spcPts val="992"/>
              </a:spcAft>
            </a:pPr>
            <a:endParaRPr lang="de-DE" sz="2200" b="0" u="none" strike="noStrike">
              <a:solidFill>
                <a:srgbClr val="FFFFFF"/>
              </a:solidFill>
              <a:effectLst/>
              <a:uFillTx/>
              <a:latin typeface="Arial"/>
            </a:endParaRPr>
          </a:p>
          <a:p>
            <a:pPr algn="ctr">
              <a:spcBef>
                <a:spcPts val="1191"/>
              </a:spcBef>
              <a:spcAft>
                <a:spcPts val="992"/>
              </a:spcAft>
            </a:pPr>
            <a:r>
              <a:rPr lang="de-DE" sz="2200" b="0" u="none" strike="noStrike">
                <a:solidFill>
                  <a:srgbClr val="FFFFFF"/>
                </a:solidFill>
                <a:effectLst/>
                <a:uFillTx/>
                <a:latin typeface="Arial"/>
              </a:rPr>
              <a:t>End of the presentation</a:t>
            </a:r>
            <a:endParaRPr lang="de-DE" sz="2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729FCF"/>
            </a:gs>
            <a:gs pos="100000">
              <a:srgbClr val="000000"/>
            </a:gs>
          </a:gsLst>
          <a:path path="circle">
            <a:fillToRect l="50000" t="50000" r="50000" b="50000"/>
          </a:path>
        </a:gra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17</TotalTime>
  <Application>LibreOffice/26.2.0.3$Windows_X86_64 LibreOffice_project/620$Build-3</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2026-06-11T14:40:45Z</dcterms:created>
  <dc:creator/>
  <dc:description/>
  <dc:language>de-DE</dc:language>
  <cp:lastModifiedBy/>
  <dcterms:modified xsi:type="dcterms:W3CDTF">2026-06-12T12:59:51Z</dcterms:modified>
  <cp:revision>5</cp:revision>
  <dc:subject/>
  <dc:title/>
</cp:coreProperties>
</file>

<file path=docProps/custom.xml><?xml version="1.0" encoding="utf-8"?>
<Properties xmlns="http://schemas.openxmlformats.org/officeDocument/2006/custom-properties" xmlns:vt="http://schemas.openxmlformats.org/officeDocument/2006/docPropsVTypes"/>
</file>